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6" r:id="rId4"/>
    <p:sldId id="267" r:id="rId5"/>
    <p:sldId id="263" r:id="rId6"/>
    <p:sldId id="265" r:id="rId7"/>
    <p:sldId id="264" r:id="rId8"/>
    <p:sldId id="261" r:id="rId9"/>
    <p:sldId id="262" r:id="rId10"/>
    <p:sldId id="259" r:id="rId11"/>
    <p:sldId id="260" r:id="rId12"/>
    <p:sldId id="258"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C69872-0B79-4DCD-8754-BAB9D48DA290}" type="datetimeFigureOut">
              <a:rPr lang="en-US" smtClean="0"/>
              <a:t>3/30/2026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6856AF-8793-42BC-9C97-0687A4CF1F0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915D3F-5290-4DB3-8C70-FFCF554BED1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15D3F-5290-4DB3-8C70-FFCF554BED1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915D3F-5290-4DB3-8C70-FFCF554BED1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915D3F-5290-4DB3-8C70-FFCF554BED1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915D3F-5290-4DB3-8C70-FFCF554BED12}"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915D3F-5290-4DB3-8C70-FFCF554BED12}"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915D3F-5290-4DB3-8C70-FFCF554BED12}"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15D3F-5290-4DB3-8C70-FFCF554BED1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15D3F-5290-4DB3-8C70-FFCF554BED1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15D3F-5290-4DB3-8C70-FFCF554BED1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15D3F-5290-4DB3-8C70-FFCF554BED1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4BFCC-86AA-4591-AAAA-169A40B832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15D3F-5290-4DB3-8C70-FFCF554BED12}" type="datetimeFigureOut">
              <a:rPr lang="en-US" smtClean="0"/>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34BFCC-86AA-4591-AAAA-169A40B832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2772816" y="0"/>
            <a:ext cx="12162622" cy="6858000"/>
          </a:xfrm>
          <a:prstGeom prst="rect">
            <a:avLst/>
          </a:prstGeom>
          <a:noFill/>
        </p:spPr>
      </p:pic>
      <p:sp>
        <p:nvSpPr>
          <p:cNvPr id="6" name="TextBox 5"/>
          <p:cNvSpPr txBox="1"/>
          <p:nvPr/>
        </p:nvSpPr>
        <p:spPr>
          <a:xfrm>
            <a:off x="179512" y="476672"/>
            <a:ext cx="5112568" cy="4524315"/>
          </a:xfrm>
          <a:prstGeom prst="rect">
            <a:avLst/>
          </a:prstGeom>
          <a:noFill/>
        </p:spPr>
        <p:txBody>
          <a:bodyPr wrap="square" rtlCol="0">
            <a:spAutoFit/>
          </a:bodyPr>
          <a:lstStyle/>
          <a:p>
            <a:pPr algn="ctr"/>
            <a:r>
              <a:rPr lang="en-US" sz="9600" spc="300" dirty="0" smtClean="0">
                <a:solidFill>
                  <a:schemeClr val="tx2">
                    <a:lumMod val="50000"/>
                  </a:schemeClr>
                </a:solidFill>
                <a:latin typeface="Bernard MT Condensed" pitchFamily="18" charset="0"/>
              </a:rPr>
              <a:t>SMART DAILY PLANNER</a:t>
            </a:r>
            <a:endParaRPr lang="en-US" sz="9600" spc="300" dirty="0">
              <a:solidFill>
                <a:schemeClr val="tx2">
                  <a:lumMod val="50000"/>
                </a:schemeClr>
              </a:solidFill>
              <a:latin typeface="Bernard MT Condensed"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395536" y="980728"/>
            <a:ext cx="6264696" cy="3662541"/>
          </a:xfrm>
          <a:prstGeom prst="rect">
            <a:avLst/>
          </a:prstGeom>
          <a:noFill/>
        </p:spPr>
        <p:txBody>
          <a:bodyPr wrap="square" rtlCol="0">
            <a:spAutoFit/>
          </a:bodyPr>
          <a:lstStyle/>
          <a:p>
            <a:pPr marL="342900" indent="-342900" algn="ctr"/>
            <a:r>
              <a:rPr lang="en-US" sz="3200" dirty="0" smtClean="0">
                <a:solidFill>
                  <a:schemeClr val="accent1">
                    <a:lumMod val="50000"/>
                  </a:schemeClr>
                </a:solidFill>
                <a:latin typeface="Bernard MT Condensed" pitchFamily="18" charset="0"/>
              </a:rPr>
              <a:t>Introduction</a:t>
            </a:r>
          </a:p>
          <a:p>
            <a:pPr marL="342900" indent="-342900" algn="ctr"/>
            <a:r>
              <a:rPr lang="en-US" sz="2000" dirty="0" smtClean="0">
                <a:latin typeface="Bell MT" pitchFamily="18" charset="0"/>
              </a:rPr>
              <a:t> In today’s fast-paced environment, managing daily tasks efficiently is essential for maintaining productivity and reducing stress. Students and individuals often struggle to organize their work, prioritize tasks, and track their progress effectively. This leads to missed deadlines, poor time management, and reduced efficiency. The Smart Daily Planner is designed as a simple and user-friendly solution to help users manage their daily tasks in an organized manner using basic programming concepts</a:t>
            </a:r>
            <a:r>
              <a:rPr lang="en-US" dirty="0" smtClean="0"/>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611560" y="1268760"/>
            <a:ext cx="5616624" cy="3293209"/>
          </a:xfrm>
          <a:prstGeom prst="rect">
            <a:avLst/>
          </a:prstGeom>
          <a:noFill/>
        </p:spPr>
        <p:txBody>
          <a:bodyPr wrap="square" rtlCol="0">
            <a:spAutoFit/>
          </a:bodyPr>
          <a:lstStyle/>
          <a:p>
            <a:pPr algn="ctr"/>
            <a:r>
              <a:rPr lang="en-US" dirty="0" smtClean="0"/>
              <a:t> </a:t>
            </a:r>
            <a:r>
              <a:rPr lang="en-US" sz="2800" dirty="0" smtClean="0">
                <a:solidFill>
                  <a:schemeClr val="accent1">
                    <a:lumMod val="50000"/>
                  </a:schemeClr>
                </a:solidFill>
                <a:latin typeface="Bernard MT Condensed" pitchFamily="18" charset="0"/>
              </a:rPr>
              <a:t>Problem Statement</a:t>
            </a:r>
            <a:endParaRPr lang="en-US" sz="2000" dirty="0" smtClean="0">
              <a:solidFill>
                <a:schemeClr val="accent1">
                  <a:lumMod val="50000"/>
                </a:schemeClr>
              </a:solidFill>
              <a:latin typeface="Bernard MT Condensed" pitchFamily="18" charset="0"/>
            </a:endParaRPr>
          </a:p>
          <a:p>
            <a:pPr algn="ctr"/>
            <a:r>
              <a:rPr lang="en-US" sz="2000" dirty="0" smtClean="0">
                <a:latin typeface="Bell MT" pitchFamily="18" charset="0"/>
              </a:rPr>
              <a:t>Many people face the following problems:</a:t>
            </a:r>
          </a:p>
          <a:p>
            <a:pPr algn="ctr"/>
            <a:endParaRPr lang="en-US" sz="2000" dirty="0" smtClean="0">
              <a:latin typeface="Bell MT" pitchFamily="18" charset="0"/>
            </a:endParaRPr>
          </a:p>
          <a:p>
            <a:pPr algn="ctr"/>
            <a:r>
              <a:rPr lang="en-US" sz="2000" dirty="0" smtClean="0">
                <a:latin typeface="Bell MT" pitchFamily="18" charset="0"/>
              </a:rPr>
              <a:t>-Forgetting important tasks</a:t>
            </a:r>
          </a:p>
          <a:p>
            <a:pPr algn="ctr">
              <a:buFontTx/>
              <a:buChar char="-"/>
            </a:pPr>
            <a:r>
              <a:rPr lang="en-US" sz="2000" dirty="0" smtClean="0">
                <a:latin typeface="Bell MT" pitchFamily="18" charset="0"/>
              </a:rPr>
              <a:t>Not prioritizing tasks properly</a:t>
            </a:r>
          </a:p>
          <a:p>
            <a:pPr algn="ctr">
              <a:buFontTx/>
              <a:buChar char="-"/>
            </a:pPr>
            <a:r>
              <a:rPr lang="en-US" sz="2000" dirty="0" smtClean="0">
                <a:latin typeface="Bell MT" pitchFamily="18" charset="0"/>
              </a:rPr>
              <a:t> Lack of clarity on completed and pending work</a:t>
            </a:r>
          </a:p>
          <a:p>
            <a:pPr algn="ctr">
              <a:buFontTx/>
              <a:buChar char="-"/>
            </a:pPr>
            <a:r>
              <a:rPr lang="en-US" sz="2000" dirty="0" smtClean="0">
                <a:latin typeface="Bell MT" pitchFamily="18" charset="0"/>
              </a:rPr>
              <a:t>No system to track daily productivity</a:t>
            </a:r>
          </a:p>
          <a:p>
            <a:pPr algn="ctr">
              <a:buFontTx/>
              <a:buChar char="-"/>
            </a:pPr>
            <a:endParaRPr lang="en-US" sz="2000" dirty="0">
              <a:latin typeface="Bell MT" pitchFamily="18" charset="0"/>
            </a:endParaRPr>
          </a:p>
          <a:p>
            <a:pPr algn="ctr"/>
            <a:r>
              <a:rPr lang="en-US" sz="2000" dirty="0" smtClean="0">
                <a:latin typeface="Bell MT" pitchFamily="18" charset="0"/>
              </a:rPr>
              <a:t>These issues reduce efficiency and increase workload pressure</a:t>
            </a:r>
            <a:endParaRPr lang="en-US" sz="2000" dirty="0">
              <a:latin typeface="Bell MT"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27384"/>
            <a:ext cx="12162622" cy="6858000"/>
          </a:xfrm>
          <a:prstGeom prst="rect">
            <a:avLst/>
          </a:prstGeom>
          <a:noFill/>
        </p:spPr>
      </p:pic>
      <p:sp>
        <p:nvSpPr>
          <p:cNvPr id="6" name="TextBox 5"/>
          <p:cNvSpPr txBox="1"/>
          <p:nvPr/>
        </p:nvSpPr>
        <p:spPr>
          <a:xfrm>
            <a:off x="827584" y="1700808"/>
            <a:ext cx="5832648" cy="2985433"/>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Objective of the Project</a:t>
            </a:r>
          </a:p>
          <a:p>
            <a:pPr algn="ctr"/>
            <a:r>
              <a:rPr lang="en-US" sz="2000" dirty="0" smtClean="0">
                <a:latin typeface="Bell MT" pitchFamily="18" charset="0"/>
              </a:rPr>
              <a:t>The main objectives of this project are:</a:t>
            </a:r>
          </a:p>
          <a:p>
            <a:pPr algn="ctr"/>
            <a:endParaRPr lang="en-US" sz="2000" dirty="0" smtClean="0">
              <a:latin typeface="Bell MT" pitchFamily="18" charset="0"/>
            </a:endParaRPr>
          </a:p>
          <a:p>
            <a:pPr algn="ctr">
              <a:buFontTx/>
              <a:buChar char="-"/>
            </a:pPr>
            <a:r>
              <a:rPr lang="en-US" sz="2000" dirty="0" smtClean="0">
                <a:latin typeface="Bell MT" pitchFamily="18" charset="0"/>
              </a:rPr>
              <a:t>To create a simple task management system</a:t>
            </a:r>
          </a:p>
          <a:p>
            <a:pPr algn="ctr">
              <a:buFontTx/>
              <a:buChar char="-"/>
            </a:pPr>
            <a:r>
              <a:rPr lang="en-US" sz="2000" dirty="0" smtClean="0">
                <a:latin typeface="Bell MT" pitchFamily="18" charset="0"/>
              </a:rPr>
              <a:t>To allow users to assign priority levels to tasks</a:t>
            </a:r>
          </a:p>
          <a:p>
            <a:pPr algn="ctr">
              <a:buFontTx/>
              <a:buChar char="-"/>
            </a:pPr>
            <a:r>
              <a:rPr lang="en-US" sz="2000" dirty="0" smtClean="0">
                <a:latin typeface="Bell MT" pitchFamily="18" charset="0"/>
              </a:rPr>
              <a:t> To help users track completed and pending tasks</a:t>
            </a:r>
          </a:p>
          <a:p>
            <a:pPr algn="ctr">
              <a:buFontTx/>
              <a:buChar char="-"/>
            </a:pPr>
            <a:r>
              <a:rPr lang="en-US" sz="2000" dirty="0" smtClean="0">
                <a:latin typeface="Bell MT" pitchFamily="18" charset="0"/>
              </a:rPr>
              <a:t> To calculate and display progress percentage</a:t>
            </a:r>
          </a:p>
          <a:p>
            <a:pPr algn="ctr">
              <a:buFontTx/>
              <a:buChar char="-"/>
            </a:pPr>
            <a:r>
              <a:rPr lang="en-US" sz="2000" dirty="0" smtClean="0">
                <a:latin typeface="Bell MT" pitchFamily="18" charset="0"/>
              </a:rPr>
              <a:t> To improve productivity using a structured approach</a:t>
            </a:r>
          </a:p>
          <a:p>
            <a:pPr algn="ctr"/>
            <a:r>
              <a:rPr lang="en-US" dirty="0" smtClean="0">
                <a:latin typeface="Bell MT" pitchFamily="18" charset="0"/>
              </a:rPr>
              <a:t> </a:t>
            </a:r>
            <a:endParaRPr lang="en-US" sz="2000" dirty="0">
              <a:latin typeface="Bell MT"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539552" y="836712"/>
            <a:ext cx="6336704" cy="3908762"/>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Proposed Solution</a:t>
            </a:r>
          </a:p>
          <a:p>
            <a:pPr algn="ctr"/>
            <a:r>
              <a:rPr lang="en-US" sz="2000" dirty="0" smtClean="0">
                <a:latin typeface="Bell MT" pitchFamily="18" charset="0"/>
              </a:rPr>
              <a:t>The proposed solution is a Smart Daily Planner developed using Python in Jupyter Notebook. The system allows users to:</a:t>
            </a:r>
          </a:p>
          <a:p>
            <a:pPr algn="ctr"/>
            <a:r>
              <a:rPr lang="en-US" sz="2000" dirty="0">
                <a:latin typeface="Bell MT" pitchFamily="18" charset="0"/>
              </a:rPr>
              <a:t>-</a:t>
            </a:r>
            <a:r>
              <a:rPr lang="en-US" sz="2000" dirty="0" smtClean="0">
                <a:latin typeface="Bell MT" pitchFamily="18" charset="0"/>
              </a:rPr>
              <a:t>Input tasks interactively</a:t>
            </a:r>
          </a:p>
          <a:p>
            <a:pPr algn="ctr"/>
            <a:r>
              <a:rPr lang="en-US" sz="2000" dirty="0">
                <a:latin typeface="Bell MT" pitchFamily="18" charset="0"/>
              </a:rPr>
              <a:t>-</a:t>
            </a:r>
            <a:r>
              <a:rPr lang="en-US" sz="2000" dirty="0" smtClean="0">
                <a:latin typeface="Bell MT" pitchFamily="18" charset="0"/>
              </a:rPr>
              <a:t>Assign priority (High, Medium, Low)</a:t>
            </a:r>
          </a:p>
          <a:p>
            <a:pPr algn="ctr">
              <a:buFontTx/>
              <a:buChar char="-"/>
            </a:pPr>
            <a:r>
              <a:rPr lang="en-US" sz="2000" dirty="0" smtClean="0">
                <a:latin typeface="Bell MT" pitchFamily="18" charset="0"/>
              </a:rPr>
              <a:t>Automatically sort tasks based on priority-</a:t>
            </a:r>
          </a:p>
          <a:p>
            <a:pPr algn="ctr">
              <a:buFontTx/>
              <a:buChar char="-"/>
            </a:pPr>
            <a:r>
              <a:rPr lang="en-US" sz="2000" dirty="0" smtClean="0">
                <a:latin typeface="Bell MT" pitchFamily="18" charset="0"/>
              </a:rPr>
              <a:t> Mark tasks as completed</a:t>
            </a:r>
          </a:p>
          <a:p>
            <a:pPr algn="ctr">
              <a:buFontTx/>
              <a:buChar char="-"/>
            </a:pPr>
            <a:r>
              <a:rPr lang="en-US" sz="2000" dirty="0" smtClean="0">
                <a:latin typeface="Bell MT" pitchFamily="18" charset="0"/>
              </a:rPr>
              <a:t>View a final progress report</a:t>
            </a:r>
          </a:p>
          <a:p>
            <a:pPr algn="ctr">
              <a:buFontTx/>
              <a:buChar char="-"/>
            </a:pPr>
            <a:endParaRPr lang="en-US" sz="2000" dirty="0">
              <a:latin typeface="Bell MT" pitchFamily="18" charset="0"/>
            </a:endParaRPr>
          </a:p>
          <a:p>
            <a:pPr algn="ctr"/>
            <a:r>
              <a:rPr lang="en-US" sz="2000" dirty="0" smtClean="0">
                <a:latin typeface="Bell MT" pitchFamily="18" charset="0"/>
              </a:rPr>
              <a:t>This provides a clear and organized workflow for managing daily activities</a:t>
            </a:r>
            <a:r>
              <a:rPr lang="en-US" sz="2000" dirty="0" smtClean="0"/>
              <a: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251520" y="692696"/>
            <a:ext cx="6840760" cy="4493538"/>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Methodology</a:t>
            </a:r>
          </a:p>
          <a:p>
            <a:pPr algn="ctr"/>
            <a:r>
              <a:rPr lang="en-US" sz="2000" dirty="0" smtClean="0">
                <a:latin typeface="Bell MT" pitchFamily="18" charset="0"/>
              </a:rPr>
              <a:t>The working of the system follows these steps:</a:t>
            </a:r>
          </a:p>
          <a:p>
            <a:pPr algn="ctr"/>
            <a:endParaRPr lang="en-US" sz="2000" dirty="0" smtClean="0">
              <a:latin typeface="Bell MT" pitchFamily="18" charset="0"/>
            </a:endParaRPr>
          </a:p>
          <a:p>
            <a:pPr marL="342900" indent="-342900" algn="ctr">
              <a:buAutoNum type="arabicPeriod"/>
            </a:pPr>
            <a:r>
              <a:rPr lang="en-US" sz="2000" dirty="0" smtClean="0">
                <a:latin typeface="Bell MT" pitchFamily="18" charset="0"/>
              </a:rPr>
              <a:t>Task Input  </a:t>
            </a:r>
          </a:p>
          <a:p>
            <a:pPr marL="342900" indent="-342900" algn="ctr"/>
            <a:r>
              <a:rPr lang="en-US" sz="2000" dirty="0" smtClean="0">
                <a:latin typeface="Bell MT" pitchFamily="18" charset="0"/>
              </a:rPr>
              <a:t> The user enters tasks one by one along with their priority.</a:t>
            </a:r>
          </a:p>
          <a:p>
            <a:pPr marL="342900" indent="-342900" algn="ctr"/>
            <a:endParaRPr lang="en-US" sz="2000" dirty="0">
              <a:latin typeface="Bell MT" pitchFamily="18" charset="0"/>
            </a:endParaRPr>
          </a:p>
          <a:p>
            <a:pPr marL="342900" indent="-342900" algn="ctr"/>
            <a:r>
              <a:rPr lang="en-US" sz="2000" dirty="0" smtClean="0">
                <a:latin typeface="Bell MT" pitchFamily="18" charset="0"/>
              </a:rPr>
              <a:t>2. Data Storage  </a:t>
            </a:r>
          </a:p>
          <a:p>
            <a:pPr marL="342900" indent="-342900" algn="ctr"/>
            <a:r>
              <a:rPr lang="en-US" sz="2000" dirty="0" smtClean="0">
                <a:latin typeface="Bell MT" pitchFamily="18" charset="0"/>
              </a:rPr>
              <a:t> Tasks are stored in a list using dictionary format containing:     </a:t>
            </a:r>
          </a:p>
          <a:p>
            <a:pPr marL="342900" indent="-342900" algn="ctr"/>
            <a:r>
              <a:rPr lang="en-US" sz="2000" dirty="0" smtClean="0">
                <a:latin typeface="Bell MT" pitchFamily="18" charset="0"/>
              </a:rPr>
              <a:t> - Task name   - Priority   - Completion status</a:t>
            </a:r>
          </a:p>
          <a:p>
            <a:pPr marL="342900" indent="-342900" algn="ctr"/>
            <a:endParaRPr lang="en-US" sz="2000" dirty="0">
              <a:latin typeface="Bell MT" pitchFamily="18" charset="0"/>
            </a:endParaRPr>
          </a:p>
          <a:p>
            <a:pPr marL="342900" indent="-342900" algn="ctr"/>
            <a:r>
              <a:rPr lang="en-US" sz="2000" dirty="0" smtClean="0">
                <a:latin typeface="Bell MT" pitchFamily="18" charset="0"/>
              </a:rPr>
              <a:t>3. Priority Sorting  </a:t>
            </a:r>
          </a:p>
          <a:p>
            <a:pPr marL="342900" indent="-342900" algn="ctr"/>
            <a:r>
              <a:rPr lang="en-US" sz="2000" dirty="0" smtClean="0">
                <a:latin typeface="Bell MT" pitchFamily="18" charset="0"/>
              </a:rPr>
              <a:t> Tasks are sorted based on priority using predefined ranking:  </a:t>
            </a:r>
          </a:p>
          <a:p>
            <a:pPr marL="342900" indent="-342900" algn="ctr"/>
            <a:r>
              <a:rPr lang="en-US" sz="2000" dirty="0" smtClean="0">
                <a:latin typeface="Bell MT" pitchFamily="18" charset="0"/>
              </a:rPr>
              <a:t> High → Medium → Low</a:t>
            </a:r>
          </a:p>
          <a:p>
            <a:pPr marL="342900" indent="-342900"/>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611560" y="1412776"/>
            <a:ext cx="6192688" cy="3754874"/>
          </a:xfrm>
          <a:prstGeom prst="rect">
            <a:avLst/>
          </a:prstGeom>
          <a:noFill/>
        </p:spPr>
        <p:txBody>
          <a:bodyPr wrap="square" rtlCol="0">
            <a:spAutoFit/>
          </a:bodyPr>
          <a:lstStyle/>
          <a:p>
            <a:pPr marL="342900" indent="-342900" algn="ctr"/>
            <a:r>
              <a:rPr lang="en-US" sz="2000" dirty="0" smtClean="0">
                <a:latin typeface="Bell MT" pitchFamily="18" charset="0"/>
              </a:rPr>
              <a:t>4. Task Completion   </a:t>
            </a:r>
          </a:p>
          <a:p>
            <a:pPr marL="342900" indent="-342900" algn="ctr"/>
            <a:r>
              <a:rPr lang="en-US" sz="2000" dirty="0" smtClean="0">
                <a:latin typeface="Bell MT" pitchFamily="18" charset="0"/>
              </a:rPr>
              <a:t>The user marks completed tasks by entering task numbers.</a:t>
            </a:r>
          </a:p>
          <a:p>
            <a:pPr marL="342900" indent="-342900" algn="ctr"/>
            <a:endParaRPr lang="en-US" sz="2000" dirty="0" smtClean="0">
              <a:latin typeface="Bell MT" pitchFamily="18" charset="0"/>
            </a:endParaRPr>
          </a:p>
          <a:p>
            <a:pPr marL="342900" indent="-342900" algn="ctr"/>
            <a:r>
              <a:rPr lang="en-US" sz="2000" dirty="0" smtClean="0">
                <a:latin typeface="Bell MT" pitchFamily="18" charset="0"/>
              </a:rPr>
              <a:t>5. Progress Calculation</a:t>
            </a:r>
          </a:p>
          <a:p>
            <a:pPr marL="342900" indent="-342900" algn="ctr"/>
            <a:r>
              <a:rPr lang="en-US" sz="2000" dirty="0" smtClean="0">
                <a:latin typeface="Bell MT" pitchFamily="18" charset="0"/>
              </a:rPr>
              <a:t>   The system calculates:    </a:t>
            </a:r>
          </a:p>
          <a:p>
            <a:pPr marL="342900" indent="-342900" algn="ctr"/>
            <a:r>
              <a:rPr lang="en-US" sz="2000" dirty="0" smtClean="0">
                <a:latin typeface="Bell MT" pitchFamily="18" charset="0"/>
              </a:rPr>
              <a:t>  - Total tasks   - Completed tasks   - Percentage progress</a:t>
            </a:r>
          </a:p>
          <a:p>
            <a:pPr marL="342900" indent="-342900" algn="ctr"/>
            <a:endParaRPr lang="en-US" sz="2000" dirty="0" smtClean="0">
              <a:latin typeface="Bell MT" pitchFamily="18" charset="0"/>
            </a:endParaRPr>
          </a:p>
          <a:p>
            <a:pPr marL="342900" indent="-342900" algn="ctr"/>
            <a:r>
              <a:rPr lang="en-US" sz="2000" dirty="0" smtClean="0">
                <a:latin typeface="Bell MT" pitchFamily="18" charset="0"/>
              </a:rPr>
              <a:t>6. Final Output   Displays:     </a:t>
            </a:r>
          </a:p>
          <a:p>
            <a:pPr marL="342900" indent="-342900" algn="ctr"/>
            <a:r>
              <a:rPr lang="en-US" sz="2000" dirty="0" smtClean="0">
                <a:latin typeface="Bell MT" pitchFamily="18" charset="0"/>
              </a:rPr>
              <a:t> - Task list with status (completed/pending)   - Progress report   - Motivational feedback</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755576" y="666562"/>
            <a:ext cx="4896544" cy="3724096"/>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Final Output Displays</a:t>
            </a:r>
            <a:r>
              <a:rPr lang="en-US" sz="2000" dirty="0" smtClean="0">
                <a:latin typeface="Bell MT" pitchFamily="18" charset="0"/>
              </a:rPr>
              <a:t>: </a:t>
            </a:r>
          </a:p>
          <a:p>
            <a:pPr algn="ctr"/>
            <a:r>
              <a:rPr lang="en-US" sz="2000" dirty="0" smtClean="0">
                <a:latin typeface="Bell MT" pitchFamily="18" charset="0"/>
              </a:rPr>
              <a:t>    - Task list with status (completed/pending)</a:t>
            </a:r>
          </a:p>
          <a:p>
            <a:pPr algn="ctr"/>
            <a:r>
              <a:rPr lang="en-US" sz="2000" dirty="0" smtClean="0">
                <a:latin typeface="Bell MT" pitchFamily="18" charset="0"/>
              </a:rPr>
              <a:t>    - Progress report  </a:t>
            </a:r>
          </a:p>
          <a:p>
            <a:pPr algn="ctr"/>
            <a:r>
              <a:rPr lang="en-US" sz="2000" dirty="0">
                <a:latin typeface="Bell MT" pitchFamily="18" charset="0"/>
              </a:rPr>
              <a:t> </a:t>
            </a:r>
            <a:r>
              <a:rPr lang="en-US" sz="2000" dirty="0" smtClean="0">
                <a:latin typeface="Bell MT" pitchFamily="18" charset="0"/>
              </a:rPr>
              <a:t>   - Motivational feedback</a:t>
            </a:r>
          </a:p>
          <a:p>
            <a:pPr algn="ctr"/>
            <a:endParaRPr lang="en-US" sz="2000" dirty="0">
              <a:latin typeface="Bell MT" pitchFamily="18" charset="0"/>
            </a:endParaRPr>
          </a:p>
          <a:p>
            <a:pPr algn="ctr"/>
            <a:r>
              <a:rPr lang="en-US" sz="2800" dirty="0" smtClean="0">
                <a:solidFill>
                  <a:schemeClr val="accent1">
                    <a:lumMod val="50000"/>
                  </a:schemeClr>
                </a:solidFill>
                <a:latin typeface="Bernard MT Condensed" pitchFamily="18" charset="0"/>
              </a:rPr>
              <a:t> Technologies Used</a:t>
            </a:r>
          </a:p>
          <a:p>
            <a:pPr algn="ctr">
              <a:buFontTx/>
              <a:buChar char="-"/>
            </a:pPr>
            <a:r>
              <a:rPr lang="en-US" sz="2000" dirty="0" smtClean="0">
                <a:latin typeface="Bell MT" pitchFamily="18" charset="0"/>
              </a:rPr>
              <a:t>Python</a:t>
            </a:r>
          </a:p>
          <a:p>
            <a:pPr algn="ctr">
              <a:buFontTx/>
              <a:buChar char="-"/>
            </a:pPr>
            <a:r>
              <a:rPr lang="en-US" sz="2000" dirty="0" smtClean="0">
                <a:latin typeface="Bell MT" pitchFamily="18" charset="0"/>
              </a:rPr>
              <a:t>for implementing logic and functionality</a:t>
            </a:r>
          </a:p>
          <a:p>
            <a:pPr algn="ctr">
              <a:buFontTx/>
              <a:buChar char="-"/>
            </a:pPr>
            <a:r>
              <a:rPr lang="en-US" sz="2000" dirty="0" smtClean="0">
                <a:latin typeface="Bell MT" pitchFamily="18" charset="0"/>
              </a:rPr>
              <a:t>Jupyter Notebook </a:t>
            </a:r>
          </a:p>
          <a:p>
            <a:pPr algn="ctr">
              <a:buFontTx/>
              <a:buChar char="-"/>
            </a:pPr>
            <a:r>
              <a:rPr lang="en-US" sz="2000" dirty="0" smtClean="0">
                <a:latin typeface="Bell MT" pitchFamily="18" charset="0"/>
              </a:rPr>
              <a:t> for interactive execution and testing</a:t>
            </a:r>
            <a:endParaRPr lang="en-US" sz="2000" dirty="0">
              <a:latin typeface="Bell MT"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1691680" y="1412776"/>
            <a:ext cx="5184576" cy="2985433"/>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 Features of the Project</a:t>
            </a:r>
          </a:p>
          <a:p>
            <a:pPr algn="ctr"/>
            <a:endParaRPr lang="en-US" sz="2000" dirty="0">
              <a:latin typeface="Bell MT" pitchFamily="18" charset="0"/>
            </a:endParaRPr>
          </a:p>
          <a:p>
            <a:pPr algn="ctr">
              <a:buFontTx/>
              <a:buChar char="-"/>
            </a:pPr>
            <a:r>
              <a:rPr lang="en-US" sz="2000" dirty="0" smtClean="0">
                <a:latin typeface="Bell MT" pitchFamily="18" charset="0"/>
              </a:rPr>
              <a:t>Simple and easy-to-use interface</a:t>
            </a:r>
          </a:p>
          <a:p>
            <a:pPr algn="ctr">
              <a:buFontTx/>
              <a:buChar char="-"/>
            </a:pPr>
            <a:r>
              <a:rPr lang="en-US" sz="2000" dirty="0" smtClean="0">
                <a:latin typeface="Bell MT" pitchFamily="18" charset="0"/>
              </a:rPr>
              <a:t>Priority-based task organization</a:t>
            </a:r>
          </a:p>
          <a:p>
            <a:pPr algn="ctr">
              <a:buFontTx/>
              <a:buChar char="-"/>
            </a:pPr>
            <a:r>
              <a:rPr lang="en-US" sz="2000" dirty="0" smtClean="0">
                <a:latin typeface="Bell MT" pitchFamily="18" charset="0"/>
              </a:rPr>
              <a:t>Interactive task input system</a:t>
            </a:r>
          </a:p>
          <a:p>
            <a:pPr algn="ctr">
              <a:buFontTx/>
              <a:buChar char="-"/>
            </a:pPr>
            <a:r>
              <a:rPr lang="en-US" sz="2000" dirty="0" smtClean="0">
                <a:latin typeface="Bell MT" pitchFamily="18" charset="0"/>
              </a:rPr>
              <a:t>Completion tracking</a:t>
            </a:r>
          </a:p>
          <a:p>
            <a:pPr algn="ctr">
              <a:buFontTx/>
              <a:buChar char="-"/>
            </a:pPr>
            <a:r>
              <a:rPr lang="en-US" sz="2000" dirty="0" smtClean="0">
                <a:latin typeface="Bell MT" pitchFamily="18" charset="0"/>
              </a:rPr>
              <a:t>Progress percentage calculation</a:t>
            </a:r>
          </a:p>
          <a:p>
            <a:pPr algn="ctr">
              <a:buFontTx/>
              <a:buChar char="-"/>
            </a:pPr>
            <a:r>
              <a:rPr lang="en-US" sz="2000" dirty="0" smtClean="0">
                <a:latin typeface="Bell MT" pitchFamily="18" charset="0"/>
              </a:rPr>
              <a:t>User-friendly output display</a:t>
            </a:r>
          </a:p>
          <a:p>
            <a:pPr algn="ctr"/>
            <a:r>
              <a:rPr lang="en-US" sz="2000" dirty="0" smtClean="0">
                <a:latin typeface="Bell MT" pitchFamily="18" charset="0"/>
              </a:rPr>
              <a:t>- Motivational feedback messages</a:t>
            </a:r>
            <a:endParaRPr lang="en-US" sz="2000" dirty="0">
              <a:latin typeface="Bell MT"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611560" y="908720"/>
            <a:ext cx="6336704" cy="4031873"/>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 Advantages</a:t>
            </a:r>
          </a:p>
          <a:p>
            <a:pPr algn="ctr"/>
            <a:r>
              <a:rPr lang="en-US" sz="2000" dirty="0" smtClean="0">
                <a:latin typeface="Bell MT" pitchFamily="18" charset="0"/>
              </a:rPr>
              <a:t> -Improves task organization</a:t>
            </a:r>
          </a:p>
          <a:p>
            <a:pPr algn="ctr">
              <a:buFontTx/>
              <a:buChar char="-"/>
            </a:pPr>
            <a:r>
              <a:rPr lang="en-US" sz="2000" dirty="0" smtClean="0">
                <a:latin typeface="Bell MT" pitchFamily="18" charset="0"/>
              </a:rPr>
              <a:t>Helps in better time management</a:t>
            </a:r>
          </a:p>
          <a:p>
            <a:pPr algn="ctr">
              <a:buFontTx/>
              <a:buChar char="-"/>
            </a:pPr>
            <a:r>
              <a:rPr lang="en-US" sz="2000" dirty="0" smtClean="0">
                <a:latin typeface="Bell MT" pitchFamily="18" charset="0"/>
              </a:rPr>
              <a:t>Easy to understand and use- Beginner-friendly implementation</a:t>
            </a:r>
          </a:p>
          <a:p>
            <a:pPr algn="ctr">
              <a:buFontTx/>
              <a:buChar char="-"/>
            </a:pPr>
            <a:r>
              <a:rPr lang="en-US" sz="2000" dirty="0" smtClean="0">
                <a:latin typeface="Bell MT" pitchFamily="18" charset="0"/>
              </a:rPr>
              <a:t>Can be extended with more features</a:t>
            </a:r>
          </a:p>
          <a:p>
            <a:pPr algn="ctr">
              <a:buFontTx/>
              <a:buChar char="-"/>
            </a:pPr>
            <a:endParaRPr lang="en-US" sz="2000" dirty="0">
              <a:latin typeface="Bell MT" pitchFamily="18" charset="0"/>
            </a:endParaRPr>
          </a:p>
          <a:p>
            <a:pPr algn="ctr"/>
            <a:r>
              <a:rPr lang="en-US" sz="2800" dirty="0" smtClean="0">
                <a:solidFill>
                  <a:schemeClr val="accent1">
                    <a:lumMod val="50000"/>
                  </a:schemeClr>
                </a:solidFill>
                <a:latin typeface="Bernard MT Condensed" pitchFamily="18" charset="0"/>
              </a:rPr>
              <a:t>Limitations</a:t>
            </a:r>
          </a:p>
          <a:p>
            <a:pPr algn="ctr">
              <a:buFontTx/>
              <a:buChar char="-"/>
            </a:pPr>
            <a:r>
              <a:rPr lang="en-US" sz="2000" dirty="0" smtClean="0">
                <a:latin typeface="Bell MT" pitchFamily="18" charset="0"/>
              </a:rPr>
              <a:t>Tasks are not saved permanently</a:t>
            </a:r>
          </a:p>
          <a:p>
            <a:pPr algn="ctr">
              <a:buFontTx/>
              <a:buChar char="-"/>
            </a:pPr>
            <a:r>
              <a:rPr lang="en-US" sz="2000" dirty="0" smtClean="0">
                <a:latin typeface="Bell MT" pitchFamily="18" charset="0"/>
              </a:rPr>
              <a:t>No graphical user interface</a:t>
            </a:r>
          </a:p>
          <a:p>
            <a:pPr algn="ctr">
              <a:buFontTx/>
              <a:buChar char="-"/>
            </a:pPr>
            <a:r>
              <a:rPr lang="en-US" sz="2000" dirty="0" smtClean="0">
                <a:latin typeface="Bell MT" pitchFamily="18" charset="0"/>
              </a:rPr>
              <a:t>Requires manual input each time</a:t>
            </a:r>
          </a:p>
          <a:p>
            <a:pPr algn="ctr"/>
            <a:r>
              <a:rPr lang="en-US" sz="2000" dirty="0" smtClean="0">
                <a:latin typeface="Bell MT" pitchFamily="18" charset="0"/>
              </a:rPr>
              <a:t>- Limited to basic functionality</a:t>
            </a:r>
            <a:endParaRPr lang="en-US" sz="2000" dirty="0">
              <a:latin typeface="Bell MT"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539552" y="1700808"/>
            <a:ext cx="5040560" cy="2369880"/>
          </a:xfrm>
          <a:prstGeom prst="rect">
            <a:avLst/>
          </a:prstGeom>
          <a:noFill/>
        </p:spPr>
        <p:txBody>
          <a:bodyPr wrap="square" rtlCol="0">
            <a:spAutoFit/>
          </a:bodyPr>
          <a:lstStyle/>
          <a:p>
            <a:pPr algn="ctr"/>
            <a:r>
              <a:rPr lang="en-US" sz="2000" dirty="0" smtClean="0">
                <a:latin typeface="Bell MT" pitchFamily="18" charset="0"/>
              </a:rPr>
              <a:t> </a:t>
            </a:r>
            <a:r>
              <a:rPr lang="en-US" sz="2800" dirty="0" smtClean="0">
                <a:solidFill>
                  <a:schemeClr val="accent1">
                    <a:lumMod val="50000"/>
                  </a:schemeClr>
                </a:solidFill>
                <a:latin typeface="Bernard MT Condensed" pitchFamily="18" charset="0"/>
              </a:rPr>
              <a:t>Future Scope</a:t>
            </a:r>
            <a:endParaRPr lang="en-US" sz="2000" dirty="0" smtClean="0">
              <a:solidFill>
                <a:schemeClr val="accent1">
                  <a:lumMod val="50000"/>
                </a:schemeClr>
              </a:solidFill>
              <a:latin typeface="Bernard MT Condensed" pitchFamily="18" charset="0"/>
            </a:endParaRPr>
          </a:p>
          <a:p>
            <a:pPr algn="ctr"/>
            <a:r>
              <a:rPr lang="en-US" sz="2000" dirty="0" smtClean="0">
                <a:latin typeface="Bell MT" pitchFamily="18" charset="0"/>
              </a:rPr>
              <a:t>The project can be improved further by:</a:t>
            </a:r>
          </a:p>
          <a:p>
            <a:pPr algn="ctr">
              <a:buFontTx/>
              <a:buChar char="-"/>
            </a:pPr>
            <a:r>
              <a:rPr lang="en-US" sz="2000" dirty="0" smtClean="0">
                <a:latin typeface="Bell MT" pitchFamily="18" charset="0"/>
              </a:rPr>
              <a:t>Adding task deadlines</a:t>
            </a:r>
          </a:p>
          <a:p>
            <a:pPr algn="ctr">
              <a:buFontTx/>
              <a:buChar char="-"/>
            </a:pPr>
            <a:r>
              <a:rPr lang="en-US" sz="2000" dirty="0" smtClean="0">
                <a:latin typeface="Bell MT" pitchFamily="18" charset="0"/>
              </a:rPr>
              <a:t>Saving data to files or databases</a:t>
            </a:r>
          </a:p>
          <a:p>
            <a:pPr algn="ctr">
              <a:buFontTx/>
              <a:buChar char="-"/>
            </a:pPr>
            <a:r>
              <a:rPr lang="en-US" sz="2000" dirty="0" smtClean="0">
                <a:latin typeface="Bell MT" pitchFamily="18" charset="0"/>
              </a:rPr>
              <a:t>Creating a graphical user interface (GUI)</a:t>
            </a:r>
          </a:p>
          <a:p>
            <a:pPr algn="ctr">
              <a:buFontTx/>
              <a:buChar char="-"/>
            </a:pPr>
            <a:r>
              <a:rPr lang="en-US" sz="2000" dirty="0" smtClean="0">
                <a:latin typeface="Bell MT" pitchFamily="18" charset="0"/>
              </a:rPr>
              <a:t>Adding reminder notifications</a:t>
            </a:r>
          </a:p>
          <a:p>
            <a:pPr algn="ctr"/>
            <a:r>
              <a:rPr lang="en-US" sz="2000" dirty="0" smtClean="0">
                <a:latin typeface="Bell MT" pitchFamily="18" charset="0"/>
              </a:rPr>
              <a:t>- Integrating AI for smart scheduling</a:t>
            </a:r>
            <a:endParaRPr lang="en-US" sz="2000" dirty="0">
              <a:latin typeface="Bell MT"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755576" y="908720"/>
            <a:ext cx="6264696" cy="3293209"/>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 Conclusion</a:t>
            </a:r>
          </a:p>
          <a:p>
            <a:pPr algn="ctr"/>
            <a:endParaRPr lang="en-US" sz="2000" dirty="0" smtClean="0">
              <a:latin typeface="Bell MT" pitchFamily="18" charset="0"/>
            </a:endParaRPr>
          </a:p>
          <a:p>
            <a:pPr algn="ctr"/>
            <a:r>
              <a:rPr lang="en-US" sz="2000" dirty="0" smtClean="0">
                <a:latin typeface="Bell MT" pitchFamily="18" charset="0"/>
              </a:rPr>
              <a:t>The Smart Daily Planner is a simple yet effective project that demonstrates how basic programming concepts can be used to solve real-life problems. It helps users organize tasks, prioritize work, and track their progress efficiently.</a:t>
            </a:r>
          </a:p>
          <a:p>
            <a:pPr algn="ctr"/>
            <a:endParaRPr lang="en-US" sz="2000" dirty="0">
              <a:latin typeface="Bell MT" pitchFamily="18" charset="0"/>
            </a:endParaRPr>
          </a:p>
          <a:p>
            <a:pPr algn="ctr"/>
            <a:r>
              <a:rPr lang="en-US" sz="2000" dirty="0" smtClean="0">
                <a:latin typeface="Bell MT" pitchFamily="18" charset="0"/>
              </a:rPr>
              <a:t>This project highlights the importance of structured planning and shows how even a basic system can significantly improve productivity.</a:t>
            </a:r>
            <a:endParaRPr lang="en-US" sz="2000" dirty="0">
              <a:latin typeface="Bell MT"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827584" y="1340768"/>
            <a:ext cx="6048672" cy="3293209"/>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Learning Outcomes</a:t>
            </a:r>
          </a:p>
          <a:p>
            <a:pPr algn="ctr"/>
            <a:r>
              <a:rPr lang="en-US" sz="2000" dirty="0" smtClean="0">
                <a:latin typeface="Bell MT" pitchFamily="18" charset="0"/>
              </a:rPr>
              <a:t>Through this project, the following concepts were learned:</a:t>
            </a:r>
          </a:p>
          <a:p>
            <a:pPr algn="ctr"/>
            <a:r>
              <a:rPr lang="en-US" sz="2000" dirty="0" smtClean="0">
                <a:latin typeface="Bell MT" pitchFamily="18" charset="0"/>
              </a:rPr>
              <a:t> </a:t>
            </a:r>
          </a:p>
          <a:p>
            <a:pPr algn="ctr"/>
            <a:r>
              <a:rPr lang="en-US" sz="2000" dirty="0">
                <a:latin typeface="Bell MT" pitchFamily="18" charset="0"/>
              </a:rPr>
              <a:t>-</a:t>
            </a:r>
            <a:r>
              <a:rPr lang="en-US" sz="2000" dirty="0" smtClean="0">
                <a:latin typeface="Bell MT" pitchFamily="18" charset="0"/>
              </a:rPr>
              <a:t>Python programming fundamentals</a:t>
            </a:r>
          </a:p>
          <a:p>
            <a:pPr algn="ctr">
              <a:buFontTx/>
              <a:buChar char="-"/>
            </a:pPr>
            <a:r>
              <a:rPr lang="en-US" sz="2000" dirty="0" smtClean="0">
                <a:latin typeface="Bell MT" pitchFamily="18" charset="0"/>
              </a:rPr>
              <a:t>Use of lists and dictionaries</a:t>
            </a:r>
          </a:p>
          <a:p>
            <a:pPr algn="ctr">
              <a:buFontTx/>
              <a:buChar char="-"/>
            </a:pPr>
            <a:r>
              <a:rPr lang="en-US" sz="2000" dirty="0" smtClean="0">
                <a:latin typeface="Bell MT" pitchFamily="18" charset="0"/>
              </a:rPr>
              <a:t>Conditional statements and loops</a:t>
            </a:r>
          </a:p>
          <a:p>
            <a:pPr algn="ctr">
              <a:buFontTx/>
              <a:buChar char="-"/>
            </a:pPr>
            <a:r>
              <a:rPr lang="en-US" sz="2000" dirty="0" smtClean="0">
                <a:latin typeface="Bell MT" pitchFamily="18" charset="0"/>
              </a:rPr>
              <a:t>Sorting techniques</a:t>
            </a:r>
          </a:p>
          <a:p>
            <a:pPr algn="ctr">
              <a:buFontTx/>
              <a:buChar char="-"/>
            </a:pPr>
            <a:r>
              <a:rPr lang="en-US" sz="2000" dirty="0" smtClean="0">
                <a:latin typeface="Bell MT" pitchFamily="18" charset="0"/>
              </a:rPr>
              <a:t>User input handling</a:t>
            </a:r>
          </a:p>
          <a:p>
            <a:pPr algn="ctr"/>
            <a:r>
              <a:rPr lang="en-US" sz="2000" dirty="0" smtClean="0">
                <a:latin typeface="Bell MT" pitchFamily="18" charset="0"/>
              </a:rPr>
              <a:t>- Basic problem-solving skills</a:t>
            </a:r>
            <a:endParaRPr lang="en-US" sz="2000" dirty="0">
              <a:latin typeface="Bell MT"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descr="C:\Users\pc\Downloads\WhatsApp Image 2026-03-30 at 00.47.27.jpeg"/>
          <p:cNvPicPr>
            <a:picLocks noChangeAspect="1" noChangeArrowheads="1"/>
          </p:cNvPicPr>
          <p:nvPr/>
        </p:nvPicPr>
        <p:blipFill>
          <a:blip r:embed="rId2" cstate="print"/>
          <a:srcRect/>
          <a:stretch>
            <a:fillRect/>
          </a:stretch>
        </p:blipFill>
        <p:spPr bwMode="auto">
          <a:xfrm>
            <a:off x="-3018622" y="0"/>
            <a:ext cx="12162622" cy="6858000"/>
          </a:xfrm>
          <a:prstGeom prst="rect">
            <a:avLst/>
          </a:prstGeom>
          <a:noFill/>
        </p:spPr>
      </p:pic>
      <p:sp>
        <p:nvSpPr>
          <p:cNvPr id="5" name="TextBox 4"/>
          <p:cNvSpPr txBox="1"/>
          <p:nvPr/>
        </p:nvSpPr>
        <p:spPr>
          <a:xfrm>
            <a:off x="1691680" y="1484784"/>
            <a:ext cx="4320480" cy="2031325"/>
          </a:xfrm>
          <a:prstGeom prst="rect">
            <a:avLst/>
          </a:prstGeom>
          <a:noFill/>
        </p:spPr>
        <p:txBody>
          <a:bodyPr wrap="square" rtlCol="0">
            <a:spAutoFit/>
          </a:bodyPr>
          <a:lstStyle/>
          <a:p>
            <a:pPr algn="ctr"/>
            <a:r>
              <a:rPr lang="en-US" sz="2800" dirty="0" smtClean="0">
                <a:solidFill>
                  <a:schemeClr val="accent1">
                    <a:lumMod val="50000"/>
                  </a:schemeClr>
                </a:solidFill>
                <a:latin typeface="Bernard MT Condensed" pitchFamily="18" charset="0"/>
              </a:rPr>
              <a:t>References</a:t>
            </a:r>
          </a:p>
          <a:p>
            <a:pPr algn="ctr"/>
            <a:endParaRPr lang="en-US" sz="2000" dirty="0" smtClean="0">
              <a:latin typeface="Bell MT" pitchFamily="18" charset="0"/>
            </a:endParaRPr>
          </a:p>
          <a:p>
            <a:pPr algn="ctr">
              <a:buFontTx/>
              <a:buChar char="-"/>
            </a:pPr>
            <a:r>
              <a:rPr lang="en-US" sz="2000" dirty="0" smtClean="0">
                <a:latin typeface="Bell MT" pitchFamily="18" charset="0"/>
              </a:rPr>
              <a:t>Python Official Documentation</a:t>
            </a:r>
          </a:p>
          <a:p>
            <a:pPr algn="ctr">
              <a:buFontTx/>
              <a:buChar char="-"/>
            </a:pPr>
            <a:r>
              <a:rPr lang="en-US" sz="2000" dirty="0" smtClean="0">
                <a:latin typeface="Bell MT" pitchFamily="18" charset="0"/>
              </a:rPr>
              <a:t>Jupyter Notebook Documentation</a:t>
            </a:r>
          </a:p>
          <a:p>
            <a:pPr algn="ctr"/>
            <a:r>
              <a:rPr lang="en-US" sz="2000" dirty="0" smtClean="0">
                <a:latin typeface="Bell MT" pitchFamily="18" charset="0"/>
              </a:rPr>
              <a:t>- Basic Programming Tutorials</a:t>
            </a:r>
          </a:p>
          <a:p>
            <a:pPr algn="ctr"/>
            <a:r>
              <a:rPr lang="en-US" dirty="0" smtClean="0"/>
              <a:t> </a:t>
            </a:r>
            <a:endParaRPr lang="en-US" sz="2000" dirty="0">
              <a:latin typeface="Bell MT"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a:p>
        </p:txBody>
      </p:sp>
      <p:pic>
        <p:nvPicPr>
          <p:cNvPr id="4" name="Picture 3" descr="WhatsApp Image 2026-03-30 at 01.19.22.jpeg"/>
          <p:cNvPicPr>
            <a:picLocks noChangeAspect="1"/>
          </p:cNvPicPr>
          <p:nvPr/>
        </p:nvPicPr>
        <p:blipFill>
          <a:blip r:embed="rId2" cstate="print"/>
          <a:stretch>
            <a:fillRect/>
          </a:stretch>
        </p:blipFill>
        <p:spPr>
          <a:xfrm>
            <a:off x="-252536" y="-1035496"/>
            <a:ext cx="9396536" cy="93965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624</Words>
  <Application>Microsoft Office PowerPoint</Application>
  <PresentationFormat>On-screen Show (4:3)</PresentationFormat>
  <Paragraphs>111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pc</cp:lastModifiedBy>
  <cp:revision>1</cp:revision>
  <dcterms:created xsi:type="dcterms:W3CDTF">2026-03-29T19:18:24Z</dcterms:created>
  <dcterms:modified xsi:type="dcterms:W3CDTF">2026-03-29T19:51:36Z</dcterms:modified>
</cp:coreProperties>
</file>